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7" d="100"/>
          <a:sy n="77" d="100"/>
        </p:scale>
        <p:origin x="883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notesMaster" Target="notesMasters/notesMaster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5.svg" /><Relationship Id="rId5" Type="http://schemas.openxmlformats.org/officeDocument/2006/relationships/image" Target="../media/image4.svg" /><Relationship Id="rId4" Type="http://schemas.openxmlformats.org/officeDocument/2006/relationships/image" Target="../media/image3.sv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6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9.svg" /><Relationship Id="rId5" Type="http://schemas.openxmlformats.org/officeDocument/2006/relationships/image" Target="../media/image8.svg" /><Relationship Id="rId4" Type="http://schemas.openxmlformats.org/officeDocument/2006/relationships/image" Target="../media/image7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10.pn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85000"/>
          </a:blip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045509" y="72854"/>
            <a:ext cx="6934753" cy="1224938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5703" y="1370646"/>
            <a:ext cx="6579188" cy="47349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SIH26133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and Quality of public healthcare services, particularly in rural and underserved areas 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Medtech / Biotech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Healthtech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 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 -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 (Registered on portal) –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2078017" y="28693"/>
            <a:ext cx="7452852" cy="923058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Jeeva Setu - Connecting patients, health workers &amp; doctors</a:t>
            </a:r>
            <a:endParaRPr lang="en-US" sz="28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82998" y="1107400"/>
            <a:ext cx="1184693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1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: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digital health platform that transforms periodic rural health-survey measurements into unified longitudinal patient records, enabling continuous health-trend monitoring and informed clinical follow-up.</a:t>
            </a:r>
            <a:endParaRPr lang="en-US" sz="2000" u="sng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rgbClr val="0070C0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9902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EE911B-EFA1-6212-FA9E-C78288D108BD}"/>
              </a:ext>
            </a:extLst>
          </p:cNvPr>
          <p:cNvSpPr/>
          <p:nvPr/>
        </p:nvSpPr>
        <p:spPr>
          <a:xfrm>
            <a:off x="394143" y="2271253"/>
            <a:ext cx="3486677" cy="3971425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47C218-A294-7841-7444-AEFBD727EFD9}"/>
              </a:ext>
            </a:extLst>
          </p:cNvPr>
          <p:cNvSpPr/>
          <p:nvPr/>
        </p:nvSpPr>
        <p:spPr>
          <a:xfrm>
            <a:off x="4190460" y="2271253"/>
            <a:ext cx="3460954" cy="3971424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2572EE0-D05B-F550-C3FD-1D43F69923FA}"/>
              </a:ext>
            </a:extLst>
          </p:cNvPr>
          <p:cNvSpPr/>
          <p:nvPr/>
        </p:nvSpPr>
        <p:spPr>
          <a:xfrm>
            <a:off x="7961054" y="2225204"/>
            <a:ext cx="3460954" cy="403110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9F7B499-341D-A84A-FB33-F17133BF84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0233772"/>
              </p:ext>
            </p:extLst>
          </p:nvPr>
        </p:nvGraphicFramePr>
        <p:xfrm>
          <a:off x="535481" y="2475294"/>
          <a:ext cx="3204000" cy="3725173"/>
        </p:xfrm>
        <a:graphic>
          <a:graphicData uri="http://schemas.openxmlformats.org/drawingml/2006/table">
            <a:tbl>
              <a:tblPr/>
              <a:tblGrid>
                <a:gridCol w="3204000">
                  <a:extLst>
                    <a:ext uri="{9D8B030D-6E8A-4147-A177-3AD203B41FA5}">
                      <a16:colId xmlns:a16="http://schemas.microsoft.com/office/drawing/2014/main" val="245025550"/>
                    </a:ext>
                  </a:extLst>
                </a:gridCol>
              </a:tblGrid>
              <a:tr h="54515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Detailed Proposed Solution</a:t>
                      </a:r>
                      <a:endParaRPr lang="en-US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1499594"/>
                  </a:ext>
                </a:extLst>
              </a:tr>
              <a:tr h="671596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Unique Patient ID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connects all health records across visits.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913993"/>
                  </a:ext>
                </a:extLst>
              </a:tr>
              <a:tr h="83862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 platform captures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BP, SpO₂, HR, glucose, Hb, temperature &amp; RR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045473"/>
                  </a:ext>
                </a:extLst>
              </a:tr>
              <a:tr h="83862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 are stored locally and synchronized when connectivity returns.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7348433"/>
                  </a:ext>
                </a:extLst>
              </a:tr>
              <a:tr h="83117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Authorized doctors access history and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visualized trends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3620591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03F9A4E-C5A9-E810-0E7C-3609ABCC69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9948586"/>
              </p:ext>
            </p:extLst>
          </p:nvPr>
        </p:nvGraphicFramePr>
        <p:xfrm>
          <a:off x="4318937" y="2346214"/>
          <a:ext cx="3203999" cy="3872026"/>
        </p:xfrm>
        <a:graphic>
          <a:graphicData uri="http://schemas.openxmlformats.org/drawingml/2006/table">
            <a:tbl>
              <a:tblPr/>
              <a:tblGrid>
                <a:gridCol w="3203999">
                  <a:extLst>
                    <a:ext uri="{9D8B030D-6E8A-4147-A177-3AD203B41FA5}">
                      <a16:colId xmlns:a16="http://schemas.microsoft.com/office/drawing/2014/main" val="2026451410"/>
                    </a:ext>
                  </a:extLst>
                </a:gridCol>
              </a:tblGrid>
              <a:tr h="7289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Addresses the Problem</a:t>
                      </a:r>
                      <a:endParaRPr lang="en-US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7346025"/>
                  </a:ext>
                </a:extLst>
              </a:tr>
              <a:tr h="85567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Converts isolated survey readings into a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continuous patient health history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5190675"/>
                  </a:ext>
                </a:extLst>
              </a:tr>
              <a:tr h="634613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doctors to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compare current and previous readings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7838649"/>
                  </a:ext>
                </a:extLst>
              </a:tr>
              <a:tr h="85567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dependence on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records and continuous internet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920557"/>
                  </a:ext>
                </a:extLst>
              </a:tr>
              <a:tr h="797155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Helps identify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in health trajectory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clinical follow-up.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7020426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5294F52-F2AD-43E3-F4C2-890ECEB68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3206735"/>
              </p:ext>
            </p:extLst>
          </p:nvPr>
        </p:nvGraphicFramePr>
        <p:xfrm>
          <a:off x="8038207" y="2526418"/>
          <a:ext cx="3306649" cy="3289593"/>
        </p:xfrm>
        <a:graphic>
          <a:graphicData uri="http://schemas.openxmlformats.org/drawingml/2006/table">
            <a:tbl>
              <a:tblPr/>
              <a:tblGrid>
                <a:gridCol w="3306649">
                  <a:extLst>
                    <a:ext uri="{9D8B030D-6E8A-4147-A177-3AD203B41FA5}">
                      <a16:colId xmlns:a16="http://schemas.microsoft.com/office/drawing/2014/main" val="216044636"/>
                    </a:ext>
                  </a:extLst>
                </a:gridCol>
              </a:tblGrid>
              <a:tr h="3327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Innovation &amp; Uniqueness</a:t>
                      </a:r>
                      <a:endParaRPr lang="en-US" sz="2000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2887859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Longitudinal tracking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instead of one-time health surveys.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278910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Offline-to-online synchronization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low-connectivity regions.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747897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Multi-parameter, patient-centric health profile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1184778"/>
                  </a:ext>
                </a:extLst>
              </a:tr>
              <a:tr h="69013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Device-agnostic &amp; scalable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architecture.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893794"/>
                  </a:ext>
                </a:extLst>
              </a:tr>
            </a:tbl>
          </a:graphicData>
        </a:graphic>
      </p:graphicFrame>
      <p:pic>
        <p:nvPicPr>
          <p:cNvPr id="16" name="Graphic 15" descr="Stethoscope with solid fill">
            <a:extLst>
              <a:ext uri="{FF2B5EF4-FFF2-40B4-BE49-F238E27FC236}">
                <a16:creationId xmlns:a16="http://schemas.microsoft.com/office/drawing/2014/main" id="{52A5C0D0-6383-623D-5B5F-97CF1426749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5665" y="1973913"/>
            <a:ext cx="670274" cy="670274"/>
          </a:xfrm>
          <a:prstGeom prst="rect">
            <a:avLst/>
          </a:prstGeom>
        </p:spPr>
      </p:pic>
      <p:pic>
        <p:nvPicPr>
          <p:cNvPr id="22" name="Graphic 21" descr="Smart Phone with solid fill">
            <a:extLst>
              <a:ext uri="{FF2B5EF4-FFF2-40B4-BE49-F238E27FC236}">
                <a16:creationId xmlns:a16="http://schemas.microsoft.com/office/drawing/2014/main" id="{E8145F8D-98FC-043A-4BC1-C598D51C75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32576" y="2104592"/>
            <a:ext cx="570607" cy="570607"/>
          </a:xfrm>
          <a:prstGeom prst="rect">
            <a:avLst/>
          </a:prstGeom>
        </p:spPr>
      </p:pic>
      <p:pic>
        <p:nvPicPr>
          <p:cNvPr id="24" name="Graphic 23" descr="Cloud Computing with solid fill">
            <a:extLst>
              <a:ext uri="{FF2B5EF4-FFF2-40B4-BE49-F238E27FC236}">
                <a16:creationId xmlns:a16="http://schemas.microsoft.com/office/drawing/2014/main" id="{973E3793-FB75-AABE-C68F-81ABF0153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9121" y="2065872"/>
            <a:ext cx="721786" cy="7217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64532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24862" y="1674057"/>
            <a:ext cx="4735373" cy="42780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Mobile/web interface developed using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APIs 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offline storage with a central database for synchronized records.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Synchronization: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records are securely synchronized with the central server when connectivity is available.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Security:</a:t>
            </a: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health workers and doctors. 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 Analytics:</a:t>
            </a:r>
            <a:r>
              <a:rPr lang="en-US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history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 trends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visualized to support clinical follow-up.</a:t>
            </a: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53835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FC1F1E0-A4D5-30C6-237B-C0DDB1B234A9}"/>
              </a:ext>
            </a:extLst>
          </p:cNvPr>
          <p:cNvSpPr txBox="1"/>
          <p:nvPr/>
        </p:nvSpPr>
        <p:spPr>
          <a:xfrm>
            <a:off x="5638800" y="296442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98638A-749B-7B4D-BCE9-C98D993D0F2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94" t="12188" b="13530"/>
          <a:stretch>
            <a:fillRect/>
          </a:stretch>
        </p:blipFill>
        <p:spPr>
          <a:xfrm>
            <a:off x="5161934" y="1674057"/>
            <a:ext cx="6946659" cy="36430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B6B7BB-8094-17CF-47FB-77A5CCD3913E}"/>
              </a:ext>
            </a:extLst>
          </p:cNvPr>
          <p:cNvSpPr/>
          <p:nvPr/>
        </p:nvSpPr>
        <p:spPr>
          <a:xfrm>
            <a:off x="226535" y="1731005"/>
            <a:ext cx="3726426" cy="43944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C437F38-5344-BB79-6987-AB944E0BB4C6}"/>
              </a:ext>
            </a:extLst>
          </p:cNvPr>
          <p:cNvSpPr/>
          <p:nvPr/>
        </p:nvSpPr>
        <p:spPr>
          <a:xfrm>
            <a:off x="4232786" y="1731005"/>
            <a:ext cx="3726425" cy="4395020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96C27A5-4932-AC39-4634-CA5856EB77A0}"/>
              </a:ext>
            </a:extLst>
          </p:cNvPr>
          <p:cNvSpPr/>
          <p:nvPr/>
        </p:nvSpPr>
        <p:spPr>
          <a:xfrm>
            <a:off x="8239039" y="1731005"/>
            <a:ext cx="3726426" cy="4395020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89195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445ED2-7960-0C7E-9FC5-894178BE44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568631"/>
              </p:ext>
            </p:extLst>
          </p:nvPr>
        </p:nvGraphicFramePr>
        <p:xfrm>
          <a:off x="251508" y="1927469"/>
          <a:ext cx="3657600" cy="4178364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3527889128"/>
                    </a:ext>
                  </a:extLst>
                </a:gridCol>
              </a:tblGrid>
              <a:tr h="5407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FEASIBILITY</a:t>
                      </a:r>
                      <a:endParaRPr lang="en-US" dirty="0">
                        <a:solidFill>
                          <a:schemeClr val="accent6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918621"/>
                  </a:ext>
                </a:extLst>
              </a:tr>
              <a:tr h="957261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Technology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Uses smartphones, databases &amp; portable medical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1542700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Infrastructure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Minimal additional hardware 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191567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Architecture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Village → PHC → District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349343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Prototype Feasible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Can initially use simulated/device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7193547"/>
                  </a:ext>
                </a:extLst>
              </a:tr>
              <a:tr h="670082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Deployment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Mobile-based health-worker workflow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12817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384519-2147-8453-2CB1-3F91B667D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097411"/>
              </p:ext>
            </p:extLst>
          </p:nvPr>
        </p:nvGraphicFramePr>
        <p:xfrm>
          <a:off x="4267198" y="1731005"/>
          <a:ext cx="3657600" cy="4114606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669505862"/>
                    </a:ext>
                  </a:extLst>
                </a:gridCol>
              </a:tblGrid>
              <a:tr h="6802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/ RISKS</a:t>
                      </a:r>
                      <a:endParaRPr lang="en-US" dirty="0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499319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Connectivity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Unreliable internet in rural areas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075341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Accuracy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Manual entry/device variation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773670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 Compatibility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Different biomedical devices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359657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Privacy &amp; Security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Sensitive patient information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121080"/>
                  </a:ext>
                </a:extLst>
              </a:tr>
              <a:tr h="68687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Adoption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Training and usability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29864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319D23B-575D-B972-EAFE-B84CEE95A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670574"/>
              </p:ext>
            </p:extLst>
          </p:nvPr>
        </p:nvGraphicFramePr>
        <p:xfrm>
          <a:off x="8216651" y="1897626"/>
          <a:ext cx="3657600" cy="4027699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199541693"/>
                    </a:ext>
                  </a:extLst>
                </a:gridCol>
              </a:tblGrid>
              <a:tr h="6547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MITIGATION STRATEGIES</a:t>
                      </a:r>
                      <a:endParaRPr lang="en-US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777918"/>
                  </a:ext>
                </a:extLst>
              </a:tr>
              <a:tr h="6745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Offline-First Architecture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Local storage with automatic sync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086572"/>
                  </a:ext>
                </a:extLst>
              </a:tr>
              <a:tr h="6745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&amp; Range Checks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Prevent invalid readings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792917"/>
                  </a:ext>
                </a:extLst>
              </a:tr>
              <a:tr h="963698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Device-Agnostic Design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– Standard APIs + manual entry fallback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2178083"/>
                  </a:ext>
                </a:extLst>
              </a:tr>
              <a:tr h="3854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Encryption + Role-Based Access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970396"/>
                  </a:ext>
                </a:extLst>
              </a:tr>
              <a:tr h="674587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UI + Regional Language Support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465333"/>
                  </a:ext>
                </a:extLst>
              </a:tr>
            </a:tbl>
          </a:graphicData>
        </a:graphic>
      </p:graphicFrame>
      <p:pic>
        <p:nvPicPr>
          <p:cNvPr id="16" name="Graphic 15" descr="Internet with solid fill">
            <a:extLst>
              <a:ext uri="{FF2B5EF4-FFF2-40B4-BE49-F238E27FC236}">
                <a16:creationId xmlns:a16="http://schemas.microsoft.com/office/drawing/2014/main" id="{AC342AFA-ECB4-0C47-D102-2F7AD1A18D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80400" y="1261996"/>
            <a:ext cx="914400" cy="914400"/>
          </a:xfrm>
          <a:prstGeom prst="rect">
            <a:avLst/>
          </a:prstGeom>
        </p:spPr>
      </p:pic>
      <p:pic>
        <p:nvPicPr>
          <p:cNvPr id="18" name="Graphic 17" descr="Warning with solid fill">
            <a:extLst>
              <a:ext uri="{FF2B5EF4-FFF2-40B4-BE49-F238E27FC236}">
                <a16:creationId xmlns:a16="http://schemas.microsoft.com/office/drawing/2014/main" id="{9E210D5C-38C3-9406-963F-A1E8981EDD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41572" y="1248697"/>
            <a:ext cx="802986" cy="802986"/>
          </a:xfrm>
          <a:prstGeom prst="rect">
            <a:avLst/>
          </a:prstGeom>
        </p:spPr>
      </p:pic>
      <p:pic>
        <p:nvPicPr>
          <p:cNvPr id="20" name="Graphic 19" descr="Medical with solid fill">
            <a:extLst>
              <a:ext uri="{FF2B5EF4-FFF2-40B4-BE49-F238E27FC236}">
                <a16:creationId xmlns:a16="http://schemas.microsoft.com/office/drawing/2014/main" id="{BDFBE333-DAB9-7620-20E3-26925341F1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92122" y="128831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695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9B2A6A3-98D4-18D4-4404-90D3EB82EF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67" t="17963" r="4736" b="6949"/>
          <a:stretch>
            <a:fillRect/>
          </a:stretch>
        </p:blipFill>
        <p:spPr>
          <a:xfrm>
            <a:off x="2057398" y="1215310"/>
            <a:ext cx="8077201" cy="44273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479362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6_RAYS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DFC41A-702D-8BA1-EAF3-78F0D96629DC}"/>
              </a:ext>
            </a:extLst>
          </p:cNvPr>
          <p:cNvSpPr txBox="1"/>
          <p:nvPr/>
        </p:nvSpPr>
        <p:spPr>
          <a:xfrm>
            <a:off x="327225" y="1703359"/>
            <a:ext cx="1153754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Access to Quality Health Care in Vulnerable Communities — Bhatt -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Academic Medicine (2018).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Disparities in Healthcare Access: Addressing Systemic Barriers in Urban and Rural Communities — Afni —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 .,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Health Literacy and Qualitative Research (2023).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Availability and Accessibility of Primary Care for the Remote, Rural, and Poor Population of Indonesia —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Wenang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Frontiers in Public Health (2021).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Improving Health and Health Care in Rural Communities: A Position Paper From the American College of Physicians — Serchen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Annals of Internal Medicine (2025)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Access to health services and health inequalities in remote and rural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areasObehi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 Osadolor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2022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Janaki Medical College Journal of Medical Science 10 (2), 70-74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 Healthcare managerial challenges in rural and underserved areas: A Review Oloruntoba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Babawarun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 al.,     	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2024 World Journal of Biology Pharmacy and Health Sciences 17 (2), 323-330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7791</TotalTime>
  <Words>796</Words>
  <Application>Microsoft Office PowerPoint</Application>
  <PresentationFormat>Widescreen</PresentationFormat>
  <Paragraphs>97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Jeeva Setu - Connecting patients, health workers &amp; doctors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MANIKANDAN R S</cp:lastModifiedBy>
  <cp:revision>150</cp:revision>
  <dcterms:created xsi:type="dcterms:W3CDTF">2013-12-12T18:46:50Z</dcterms:created>
  <dcterms:modified xsi:type="dcterms:W3CDTF">2026-08-24T09:18:33Z</dcterms:modified>
  <cp:category/>
</cp:coreProperties>
</file>