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svg" /><Relationship Id="rId5" Type="http://schemas.openxmlformats.org/officeDocument/2006/relationships/image" Target="../media/image4.svg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.svg" /><Relationship Id="rId5" Type="http://schemas.openxmlformats.org/officeDocument/2006/relationships/image" Target="../media/image8.svg" /><Relationship Id="rId4" Type="http://schemas.openxmlformats.org/officeDocument/2006/relationships/image" Target="../media/image7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svg" /><Relationship Id="rId5" Type="http://schemas.openxmlformats.org/officeDocument/2006/relationships/image" Target="../media/image11.svg" /><Relationship Id="rId4" Type="http://schemas.openxmlformats.org/officeDocument/2006/relationships/image" Target="../media/image10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.svg" /><Relationship Id="rId4" Type="http://schemas.openxmlformats.org/officeDocument/2006/relationships/image" Target="../media/image9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045509" y="72854"/>
            <a:ext cx="6934753" cy="1224938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5703" y="1370646"/>
            <a:ext cx="6579188" cy="47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SIH26133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–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and Quality of public healthcare services, particularly in rural and underserved areas 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Theme –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Medtech / Biotech /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Healthtech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Team ID -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Team Name (Registered on portal) –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078017" y="28693"/>
            <a:ext cx="7452852" cy="923058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Jeeva Setu - Connecting patients, health workers &amp; doctors</a:t>
            </a:r>
            <a:endParaRPr lang="en-US" sz="28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107400"/>
            <a:ext cx="11846938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digital health platform for the Government that transforms periodic rural health-survey measurements into unified longitudinal patient records, enabling continuous health-trend monitoring and informed clinical follow-up.</a:t>
            </a:r>
            <a:endParaRPr lang="en-US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990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EE911B-EFA1-6212-FA9E-C78288D108BD}"/>
              </a:ext>
            </a:extLst>
          </p:cNvPr>
          <p:cNvSpPr/>
          <p:nvPr/>
        </p:nvSpPr>
        <p:spPr>
          <a:xfrm>
            <a:off x="394143" y="2271253"/>
            <a:ext cx="3486677" cy="3971425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47C218-A294-7841-7444-AEFBD727EFD9}"/>
              </a:ext>
            </a:extLst>
          </p:cNvPr>
          <p:cNvSpPr/>
          <p:nvPr/>
        </p:nvSpPr>
        <p:spPr>
          <a:xfrm>
            <a:off x="4190460" y="2271253"/>
            <a:ext cx="3460954" cy="397142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572EE0-D05B-F550-C3FD-1D43F69923FA}"/>
              </a:ext>
            </a:extLst>
          </p:cNvPr>
          <p:cNvSpPr/>
          <p:nvPr/>
        </p:nvSpPr>
        <p:spPr>
          <a:xfrm>
            <a:off x="7961054" y="2225204"/>
            <a:ext cx="3460954" cy="403110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9F7B499-341D-A84A-FB33-F17133BF8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33772"/>
              </p:ext>
            </p:extLst>
          </p:nvPr>
        </p:nvGraphicFramePr>
        <p:xfrm>
          <a:off x="535481" y="2475294"/>
          <a:ext cx="3204000" cy="3725173"/>
        </p:xfrm>
        <a:graphic>
          <a:graphicData uri="http://schemas.openxmlformats.org/drawingml/2006/table">
            <a:tbl>
              <a:tblPr/>
              <a:tblGrid>
                <a:gridCol w="3204000">
                  <a:extLst>
                    <a:ext uri="{9D8B030D-6E8A-4147-A177-3AD203B41FA5}">
                      <a16:colId xmlns:a16="http://schemas.microsoft.com/office/drawing/2014/main" val="245025550"/>
                    </a:ext>
                  </a:extLst>
                </a:gridCol>
              </a:tblGrid>
              <a:tr h="545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Detailed Proposed Solution</a:t>
                      </a:r>
                      <a:endParaRPr lang="en-US" sz="20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499594"/>
                  </a:ext>
                </a:extLst>
              </a:tr>
              <a:tr h="67159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Patient ID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connects all health records across visits.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913993"/>
                  </a:ext>
                </a:extLst>
              </a:tr>
              <a:tr h="83862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platform captures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BP, SpO₂, HR, glucose, Hb, temperature &amp; RR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045473"/>
                  </a:ext>
                </a:extLst>
              </a:tr>
              <a:tr h="83862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are stored locally and synchronized when connectivity returns.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48433"/>
                  </a:ext>
                </a:extLst>
              </a:tr>
              <a:tr h="83117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Authorized doctors access history and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visualized trends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62059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03F9A4E-C5A9-E810-0E7C-3609ABCC6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48586"/>
              </p:ext>
            </p:extLst>
          </p:nvPr>
        </p:nvGraphicFramePr>
        <p:xfrm>
          <a:off x="4318937" y="2346214"/>
          <a:ext cx="3203999" cy="3872026"/>
        </p:xfrm>
        <a:graphic>
          <a:graphicData uri="http://schemas.openxmlformats.org/drawingml/2006/table">
            <a:tbl>
              <a:tblPr/>
              <a:tblGrid>
                <a:gridCol w="3203999">
                  <a:extLst>
                    <a:ext uri="{9D8B030D-6E8A-4147-A177-3AD203B41FA5}">
                      <a16:colId xmlns:a16="http://schemas.microsoft.com/office/drawing/2014/main" val="2026451410"/>
                    </a:ext>
                  </a:extLst>
                </a:gridCol>
              </a:tblGrid>
              <a:tr h="7289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Addresses the Problem</a:t>
                      </a:r>
                      <a:endParaRPr lang="en-US" sz="20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346025"/>
                  </a:ext>
                </a:extLst>
              </a:tr>
              <a:tr h="85567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isolated survey readings into a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patient health history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190675"/>
                  </a:ext>
                </a:extLst>
              </a:tr>
              <a:tr h="6346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doctors to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current and previous readings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838649"/>
                  </a:ext>
                </a:extLst>
              </a:tr>
              <a:tr h="85567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dependence on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records and continuous internet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920557"/>
                  </a:ext>
                </a:extLst>
              </a:tr>
              <a:tr h="79715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identify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in health trajectory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clinical follow-up.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02042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5294F52-F2AD-43E3-F4C2-890ECEB68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206735"/>
              </p:ext>
            </p:extLst>
          </p:nvPr>
        </p:nvGraphicFramePr>
        <p:xfrm>
          <a:off x="8038207" y="2526418"/>
          <a:ext cx="3306649" cy="3289593"/>
        </p:xfrm>
        <a:graphic>
          <a:graphicData uri="http://schemas.openxmlformats.org/drawingml/2006/table">
            <a:tbl>
              <a:tblPr/>
              <a:tblGrid>
                <a:gridCol w="3306649">
                  <a:extLst>
                    <a:ext uri="{9D8B030D-6E8A-4147-A177-3AD203B41FA5}">
                      <a16:colId xmlns:a16="http://schemas.microsoft.com/office/drawing/2014/main" val="216044636"/>
                    </a:ext>
                  </a:extLst>
                </a:gridCol>
              </a:tblGrid>
              <a:tr h="332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 &amp; Uniqueness</a:t>
                      </a:r>
                      <a:endParaRPr lang="en-US" sz="20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887859"/>
                  </a:ext>
                </a:extLst>
              </a:tr>
              <a:tr h="690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Longitudinal tracking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instead of one-time health surveys.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278910"/>
                  </a:ext>
                </a:extLst>
              </a:tr>
              <a:tr h="690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Offline-to-online synchronization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low-connectivity regions.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47897"/>
                  </a:ext>
                </a:extLst>
              </a:tr>
              <a:tr h="690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Multi-parameter, patient-centric health profile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184778"/>
                  </a:ext>
                </a:extLst>
              </a:tr>
              <a:tr h="690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Device-agnostic &amp; scalable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architecture.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893794"/>
                  </a:ext>
                </a:extLst>
              </a:tr>
            </a:tbl>
          </a:graphicData>
        </a:graphic>
      </p:graphicFrame>
      <p:pic>
        <p:nvPicPr>
          <p:cNvPr id="16" name="Graphic 15" descr="Stethoscope with solid fill">
            <a:extLst>
              <a:ext uri="{FF2B5EF4-FFF2-40B4-BE49-F238E27FC236}">
                <a16:creationId xmlns:a16="http://schemas.microsoft.com/office/drawing/2014/main" id="{52A5C0D0-6383-623D-5B5F-97CF14267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665" y="1973913"/>
            <a:ext cx="670274" cy="670274"/>
          </a:xfrm>
          <a:prstGeom prst="rect">
            <a:avLst/>
          </a:prstGeom>
        </p:spPr>
      </p:pic>
      <p:pic>
        <p:nvPicPr>
          <p:cNvPr id="22" name="Graphic 21" descr="Smart Phone with solid fill">
            <a:extLst>
              <a:ext uri="{FF2B5EF4-FFF2-40B4-BE49-F238E27FC236}">
                <a16:creationId xmlns:a16="http://schemas.microsoft.com/office/drawing/2014/main" id="{E8145F8D-98FC-043A-4BC1-C598D51C7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2576" y="2104592"/>
            <a:ext cx="570607" cy="570607"/>
          </a:xfrm>
          <a:prstGeom prst="rect">
            <a:avLst/>
          </a:prstGeom>
        </p:spPr>
      </p:pic>
      <p:pic>
        <p:nvPicPr>
          <p:cNvPr id="24" name="Graphic 23" descr="Cloud Computing with solid fill">
            <a:extLst>
              <a:ext uri="{FF2B5EF4-FFF2-40B4-BE49-F238E27FC236}">
                <a16:creationId xmlns:a16="http://schemas.microsoft.com/office/drawing/2014/main" id="{973E3793-FB75-AABE-C68F-81ABF0153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9121" y="2065872"/>
            <a:ext cx="721786" cy="7217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341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2061" y="1584354"/>
            <a:ext cx="4486139" cy="424731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HTML &amp; CSS – User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dashboards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Server-side processing,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authentication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patient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records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medical data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+ biomedical sensors – Data acquisition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data transmission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&amp; health trend analysis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handling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88767" y="253929"/>
            <a:ext cx="15383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C1F1E0-A4D5-30C6-237B-C0DDB1B234A9}"/>
              </a:ext>
            </a:extLst>
          </p:cNvPr>
          <p:cNvSpPr txBox="1"/>
          <p:nvPr/>
        </p:nvSpPr>
        <p:spPr>
          <a:xfrm>
            <a:off x="5638800" y="296442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778AD6-16A4-0AFE-47D5-1DBD86BF4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322" y="1259773"/>
            <a:ext cx="6854643" cy="489905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B6B7BB-8094-17CF-47FB-77A5CCD3913E}"/>
              </a:ext>
            </a:extLst>
          </p:cNvPr>
          <p:cNvSpPr/>
          <p:nvPr/>
        </p:nvSpPr>
        <p:spPr>
          <a:xfrm>
            <a:off x="226535" y="1731005"/>
            <a:ext cx="3726426" cy="43944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437F38-5344-BB79-6987-AB944E0BB4C6}"/>
              </a:ext>
            </a:extLst>
          </p:cNvPr>
          <p:cNvSpPr/>
          <p:nvPr/>
        </p:nvSpPr>
        <p:spPr>
          <a:xfrm>
            <a:off x="4232786" y="1731005"/>
            <a:ext cx="3726425" cy="439502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6C27A5-4932-AC39-4634-CA5856EB77A0}"/>
              </a:ext>
            </a:extLst>
          </p:cNvPr>
          <p:cNvSpPr/>
          <p:nvPr/>
        </p:nvSpPr>
        <p:spPr>
          <a:xfrm>
            <a:off x="8239039" y="1731005"/>
            <a:ext cx="3726426" cy="43950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91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445ED2-7960-0C7E-9FC5-894178BE4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568631"/>
              </p:ext>
            </p:extLst>
          </p:nvPr>
        </p:nvGraphicFramePr>
        <p:xfrm>
          <a:off x="251508" y="1927469"/>
          <a:ext cx="3657600" cy="417836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3527889128"/>
                    </a:ext>
                  </a:extLst>
                </a:gridCol>
              </a:tblGrid>
              <a:tr h="540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18621"/>
                  </a:ext>
                </a:extLst>
              </a:tr>
              <a:tr h="95726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Technology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Uses smartphones, databases &amp; portable medical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542700"/>
                  </a:ext>
                </a:extLst>
              </a:tr>
              <a:tr h="6700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Infrastructure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Minimal additional hardware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191567"/>
                  </a:ext>
                </a:extLst>
              </a:tr>
              <a:tr h="6700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Architecture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Village → PHC → District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9343"/>
                  </a:ext>
                </a:extLst>
              </a:tr>
              <a:tr h="6700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 Feasible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Can initially use simulated/device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193547"/>
                  </a:ext>
                </a:extLst>
              </a:tr>
              <a:tr h="6700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Deployment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Mobile-based health-worker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1281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384519-2147-8453-2CB1-3F91B667D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097411"/>
              </p:ext>
            </p:extLst>
          </p:nvPr>
        </p:nvGraphicFramePr>
        <p:xfrm>
          <a:off x="4267198" y="1731005"/>
          <a:ext cx="3657600" cy="411460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669505862"/>
                    </a:ext>
                  </a:extLst>
                </a:gridCol>
              </a:tblGrid>
              <a:tr h="680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/ RISKS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99319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Connectivity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Unreliable internet in rural areas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075341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Accuracy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Manual entry/device variation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773670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Compatibility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Different biomedical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359657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&amp; Security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Sensitive patient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121080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Adoption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Training and usability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2986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19D23B-575D-B972-EAFE-B84CEE95A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670574"/>
              </p:ext>
            </p:extLst>
          </p:nvPr>
        </p:nvGraphicFramePr>
        <p:xfrm>
          <a:off x="8216651" y="1897626"/>
          <a:ext cx="3657600" cy="4027699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199541693"/>
                    </a:ext>
                  </a:extLst>
                </a:gridCol>
              </a:tblGrid>
              <a:tr h="6547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STRATEGIES</a:t>
                      </a:r>
                      <a:endParaRPr lang="en-US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777918"/>
                  </a:ext>
                </a:extLst>
              </a:tr>
              <a:tr h="6745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Offline-First Architecture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Local storage with automatic sync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086572"/>
                  </a:ext>
                </a:extLst>
              </a:tr>
              <a:tr h="6745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&amp; Range Checks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Prevent invalid readings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92917"/>
                  </a:ext>
                </a:extLst>
              </a:tr>
              <a:tr h="9636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Device-Agnostic Design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Standard APIs + manual entry fallback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178083"/>
                  </a:ext>
                </a:extLst>
              </a:tr>
              <a:tr h="38547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 + Role-Based Access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970396"/>
                  </a:ext>
                </a:extLst>
              </a:tr>
              <a:tr h="6745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UI + Regional Language Support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465333"/>
                  </a:ext>
                </a:extLst>
              </a:tr>
            </a:tbl>
          </a:graphicData>
        </a:graphic>
      </p:graphicFrame>
      <p:pic>
        <p:nvPicPr>
          <p:cNvPr id="16" name="Graphic 15" descr="Internet with solid fill">
            <a:extLst>
              <a:ext uri="{FF2B5EF4-FFF2-40B4-BE49-F238E27FC236}">
                <a16:creationId xmlns:a16="http://schemas.microsoft.com/office/drawing/2014/main" id="{AC342AFA-ECB4-0C47-D102-2F7AD1A18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6847" y="1303904"/>
            <a:ext cx="914400" cy="914400"/>
          </a:xfrm>
          <a:prstGeom prst="rect">
            <a:avLst/>
          </a:prstGeom>
        </p:spPr>
      </p:pic>
      <p:pic>
        <p:nvPicPr>
          <p:cNvPr id="18" name="Graphic 17" descr="Warning with solid fill">
            <a:extLst>
              <a:ext uri="{FF2B5EF4-FFF2-40B4-BE49-F238E27FC236}">
                <a16:creationId xmlns:a16="http://schemas.microsoft.com/office/drawing/2014/main" id="{9E210D5C-38C3-9406-963F-A1E8981ED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1572" y="1248697"/>
            <a:ext cx="802986" cy="802986"/>
          </a:xfrm>
          <a:prstGeom prst="rect">
            <a:avLst/>
          </a:prstGeom>
        </p:spPr>
      </p:pic>
      <p:pic>
        <p:nvPicPr>
          <p:cNvPr id="20" name="Graphic 19" descr="Medical with solid fill">
            <a:extLst>
              <a:ext uri="{FF2B5EF4-FFF2-40B4-BE49-F238E27FC236}">
                <a16:creationId xmlns:a16="http://schemas.microsoft.com/office/drawing/2014/main" id="{BDFBE333-DAB9-7620-20E3-26925341F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122" y="12883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95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E98392-29C5-A55B-C524-31C949E5777F}"/>
              </a:ext>
            </a:extLst>
          </p:cNvPr>
          <p:cNvSpPr/>
          <p:nvPr/>
        </p:nvSpPr>
        <p:spPr>
          <a:xfrm>
            <a:off x="167148" y="1415965"/>
            <a:ext cx="3706761" cy="47489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2C922D-E4F6-4BCF-8DBE-DC2D5F3F8BB1}"/>
              </a:ext>
            </a:extLst>
          </p:cNvPr>
          <p:cNvSpPr/>
          <p:nvPr/>
        </p:nvSpPr>
        <p:spPr>
          <a:xfrm>
            <a:off x="4145439" y="1368476"/>
            <a:ext cx="3706761" cy="474898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9BAF75-5CFF-24D3-D954-D62E0F7EDD62}"/>
              </a:ext>
            </a:extLst>
          </p:cNvPr>
          <p:cNvSpPr/>
          <p:nvPr/>
        </p:nvSpPr>
        <p:spPr>
          <a:xfrm>
            <a:off x="8123730" y="1332681"/>
            <a:ext cx="3706761" cy="474898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C223C05-B984-970A-36C3-D06B332E1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856032"/>
              </p:ext>
            </p:extLst>
          </p:nvPr>
        </p:nvGraphicFramePr>
        <p:xfrm>
          <a:off x="216309" y="2167393"/>
          <a:ext cx="3657600" cy="1828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959048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228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356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842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341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82549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5C1C6C8-B4B6-2BDB-B3BE-C12828AA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458146"/>
              </p:ext>
            </p:extLst>
          </p:nvPr>
        </p:nvGraphicFramePr>
        <p:xfrm>
          <a:off x="4194600" y="2171689"/>
          <a:ext cx="3657600" cy="1828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1534382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75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357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85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911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95757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01481ED-18E8-DC07-F63F-0FC3CBB9F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488329"/>
              </p:ext>
            </p:extLst>
          </p:nvPr>
        </p:nvGraphicFramePr>
        <p:xfrm>
          <a:off x="8148310" y="2320830"/>
          <a:ext cx="3657600" cy="21945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1656871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190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022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166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862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53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3202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A6701FB-CC42-15FC-D14A-6FFBB068A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01359"/>
              </p:ext>
            </p:extLst>
          </p:nvPr>
        </p:nvGraphicFramePr>
        <p:xfrm>
          <a:off x="266699" y="1744679"/>
          <a:ext cx="3556819" cy="4230449"/>
        </p:xfrm>
        <a:graphic>
          <a:graphicData uri="http://schemas.openxmlformats.org/drawingml/2006/table">
            <a:tbl>
              <a:tblPr/>
              <a:tblGrid>
                <a:gridCol w="3556819">
                  <a:extLst>
                    <a:ext uri="{9D8B030D-6E8A-4147-A177-3AD203B41FA5}">
                      <a16:colId xmlns:a16="http://schemas.microsoft.com/office/drawing/2014/main" val="2327658072"/>
                    </a:ext>
                  </a:extLst>
                </a:gridCol>
              </a:tblGrid>
              <a:tr h="457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FIELD-LEVEL INNOVATION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606127"/>
                  </a:ext>
                </a:extLst>
              </a:tr>
              <a:tr h="800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Offline-First Screening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Collect vitals even without network connectivity.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647838"/>
                  </a:ext>
                </a:extLst>
              </a:tr>
              <a:tr h="800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Multi-Parameter Capture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ECG • SpO₂ • Temperature • Blood Glucose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686012"/>
                  </a:ext>
                </a:extLst>
              </a:tr>
              <a:tr h="800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Human Error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Direct sensor-to-digital data reduces manual entry.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393388"/>
                  </a:ext>
                </a:extLst>
              </a:tr>
              <a:tr h="114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Portable Field Solution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Tablet + integrated health-monitoring hardware.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159694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47E3836-1267-E4D4-E4FD-43BDF8120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545154"/>
              </p:ext>
            </p:extLst>
          </p:nvPr>
        </p:nvGraphicFramePr>
        <p:xfrm>
          <a:off x="4259081" y="1666954"/>
          <a:ext cx="3528638" cy="3899309"/>
        </p:xfrm>
        <a:graphic>
          <a:graphicData uri="http://schemas.openxmlformats.org/drawingml/2006/table">
            <a:tbl>
              <a:tblPr/>
              <a:tblGrid>
                <a:gridCol w="3528638">
                  <a:extLst>
                    <a:ext uri="{9D8B030D-6E8A-4147-A177-3AD203B41FA5}">
                      <a16:colId xmlns:a16="http://schemas.microsoft.com/office/drawing/2014/main" val="1631640102"/>
                    </a:ext>
                  </a:extLst>
                </a:gridCol>
              </a:tblGrid>
              <a:tr h="65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DIGITAL ECOSYSTEM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041761"/>
                  </a:ext>
                </a:extLst>
              </a:tr>
              <a:tr h="1026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Connected Record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Patient data flows from sensors → app → server.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574711"/>
                  </a:ext>
                </a:extLst>
              </a:tr>
              <a:tr h="73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Sync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Offline records sync when connectivity returns.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44206"/>
                  </a:ext>
                </a:extLst>
              </a:tr>
              <a:tr h="73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Three-Role Ecosystem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Patient • Surveyor • Doctor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205575"/>
                  </a:ext>
                </a:extLst>
              </a:tr>
              <a:tr h="73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Editing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Patients view; authorized staff can update records.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0582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3C1F804-CCAA-8C5D-EAA2-8701ED2A5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95391"/>
              </p:ext>
            </p:extLst>
          </p:nvPr>
        </p:nvGraphicFramePr>
        <p:xfrm>
          <a:off x="8322066" y="1666954"/>
          <a:ext cx="3345668" cy="4296410"/>
        </p:xfrm>
        <a:graphic>
          <a:graphicData uri="http://schemas.openxmlformats.org/drawingml/2006/table">
            <a:tbl>
              <a:tblPr/>
              <a:tblGrid>
                <a:gridCol w="3345668">
                  <a:extLst>
                    <a:ext uri="{9D8B030D-6E8A-4147-A177-3AD203B41FA5}">
                      <a16:colId xmlns:a16="http://schemas.microsoft.com/office/drawing/2014/main" val="4000678521"/>
                    </a:ext>
                  </a:extLst>
                </a:gridCol>
              </a:tblGrid>
              <a:tr h="638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 IMPACT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031552"/>
                  </a:ext>
                </a:extLst>
              </a:tr>
              <a:tr h="905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 Beyond Connectivity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Brings digital screening to remote communities.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109517"/>
                  </a:ext>
                </a:extLst>
              </a:tr>
              <a:tr h="905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Clinical Response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Doctors can review field data without waiting for paperwork.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596688"/>
                  </a:ext>
                </a:extLst>
              </a:tr>
              <a:tr h="905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Continuity of Care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Health records remain available beyond the initial screening.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63017"/>
                  </a:ext>
                </a:extLst>
              </a:tr>
              <a:tr h="815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Public Healthcare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Can expand across villages, camps and healthcare programs.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917818"/>
                  </a:ext>
                </a:extLst>
              </a:tr>
            </a:tbl>
          </a:graphicData>
        </a:graphic>
      </p:graphicFrame>
      <p:pic>
        <p:nvPicPr>
          <p:cNvPr id="24" name="Graphic 23" descr="Bar graph with upward trend with solid fill">
            <a:extLst>
              <a:ext uri="{FF2B5EF4-FFF2-40B4-BE49-F238E27FC236}">
                <a16:creationId xmlns:a16="http://schemas.microsoft.com/office/drawing/2014/main" id="{5E313134-C41F-B57D-9472-C4F106EB82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6894" y="1000139"/>
            <a:ext cx="914400" cy="914400"/>
          </a:xfrm>
          <a:prstGeom prst="rect">
            <a:avLst/>
          </a:prstGeom>
        </p:spPr>
      </p:pic>
      <p:pic>
        <p:nvPicPr>
          <p:cNvPr id="26" name="Graphic 25" descr="Users with solid fill">
            <a:extLst>
              <a:ext uri="{FF2B5EF4-FFF2-40B4-BE49-F238E27FC236}">
                <a16:creationId xmlns:a16="http://schemas.microsoft.com/office/drawing/2014/main" id="{A2D06E79-F25C-FA7A-C9A8-CD5BFBAB6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218" y="1033422"/>
            <a:ext cx="836676" cy="836676"/>
          </a:xfrm>
          <a:prstGeom prst="rect">
            <a:avLst/>
          </a:prstGeom>
        </p:spPr>
      </p:pic>
      <p:pic>
        <p:nvPicPr>
          <p:cNvPr id="28" name="Graphic 27" descr="Cloud Computing with solid fill">
            <a:extLst>
              <a:ext uri="{FF2B5EF4-FFF2-40B4-BE49-F238E27FC236}">
                <a16:creationId xmlns:a16="http://schemas.microsoft.com/office/drawing/2014/main" id="{4467BB1A-CE78-05F7-0DBC-3CCAC5C5D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7263" y="10001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36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DFC41A-702D-8BA1-EAF3-78F0D96629DC}"/>
              </a:ext>
            </a:extLst>
          </p:cNvPr>
          <p:cNvSpPr txBox="1"/>
          <p:nvPr/>
        </p:nvSpPr>
        <p:spPr>
          <a:xfrm>
            <a:off x="832205" y="1576697"/>
            <a:ext cx="10527588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Ensuring Access to Quality Health Care in Vulnerable Communities — Bhatt -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— Academic Medicine (2018).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Disparities in Healthcare Access: Addressing Systemic Barriers in Urban and Rural Communities — Afni —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et al 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Health Literacy and Qualitative Research (2023).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Availability and Accessibility of Primary Care for the Remote, Rural, and Poor Population of Indonesia —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Wenang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— Frontiers in Public Health (2021).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Improving Health and Health Care in Rural Communities: A Position Paper From the American College of Physicians — Serchen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— Annals of Internal Medicine (2025)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Access to health services and health inequalities in remote and rural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areasObehi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 Osadolor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Janaki Medical College Journal of Medical Science 10 (2), 70-74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6.  Healthcare managerial challenges in rural and underserved areas: A Review Oloruntoba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Babawarun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et al.,     	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2024 World Journal of Biology Pharmacy and Health Sciences 17 (2),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323-330</a:t>
            </a:r>
          </a:p>
        </p:txBody>
      </p:sp>
      <p:pic>
        <p:nvPicPr>
          <p:cNvPr id="13" name="Graphic 12" descr="Medical with solid fill">
            <a:extLst>
              <a:ext uri="{FF2B5EF4-FFF2-40B4-BE49-F238E27FC236}">
                <a16:creationId xmlns:a16="http://schemas.microsoft.com/office/drawing/2014/main" id="{8285BBA5-730C-7ED9-28B7-2CDB5F826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5011" y="5471900"/>
            <a:ext cx="914400" cy="914400"/>
          </a:xfrm>
          <a:prstGeom prst="rect">
            <a:avLst/>
          </a:prstGeom>
        </p:spPr>
      </p:pic>
      <p:pic>
        <p:nvPicPr>
          <p:cNvPr id="15" name="Graphic 14" descr="Heartbeat with solid fill">
            <a:extLst>
              <a:ext uri="{FF2B5EF4-FFF2-40B4-BE49-F238E27FC236}">
                <a16:creationId xmlns:a16="http://schemas.microsoft.com/office/drawing/2014/main" id="{A2626863-6674-3DBB-93D6-011C132BA8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235092" y="9792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Jeeva Setu - Connecting patients, health workers &amp; doctors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MANIKANDAN R S</cp:lastModifiedBy>
  <cp:revision>1</cp:revision>
  <dcterms:created xsi:type="dcterms:W3CDTF">2013-12-12T18:46:50Z</dcterms:created>
  <dcterms:modified xsi:type="dcterms:W3CDTF">2026-08-25T06:26:20Z</dcterms:modified>
  <cp:category/>
</cp:coreProperties>
</file>